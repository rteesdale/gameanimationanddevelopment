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students warmly. Keep the tone conversational.</a:t>
            </a:r>
          </a:p>
          <a:p>
            <a:r>
              <a:t>Source context: D:\0_AnimationAndGameDesign\Curriculum\Wednesday_Studio_Session_Types.md and Academic_Year_Course_Outline_Find_It_Fix_It.md.</a:t>
            </a:r>
          </a:p>
          <a:p>
            <a:r>
              <a:t>Image source: local workspace image game-development-google-classroom-photoreal-1600x400.png.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a timing guide, not a rigid lecture.</a:t>
            </a:r>
          </a:p>
          <a:p>
            <a:r>
              <a:t>Invite short responses early so students know the session expects voices, not silence.</a:t>
            </a:r>
          </a:p>
          <a:p>
            <a:r>
              <a:t>Source context: Orientation And Placement Meeting agenda in Wednesday_Studio_Session_Types.md.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the studio to audience experience. This is the first big idea.</a:t>
            </a:r>
          </a:p>
          <a:p>
            <a:r>
              <a:t>Image source: local workspace image game-development-google-classroom.png.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norms are adapted from the Studio Level 1 manual.</a:t>
            </a:r>
          </a:p>
          <a:p>
            <a:r>
              <a:t>Ask students which one they think the group will need most.</a:t>
            </a:r>
          </a:p>
          <a:p>
            <a:r>
              <a:t>Source context: StudioLevel1_Explorer_Game_Foundations_Instruction_Manual.md.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slide interactive. Ask for examples from students' games, shows, apps, or videos.</a:t>
            </a:r>
          </a:p>
          <a:p>
            <a:r>
              <a:t>Image source: local Godot documentation image editor_intro_workspace_game.webp.</a:t>
            </a:r>
          </a:p>
          <a:p>
            <a:r>
              <a:t>Source context: Lesson 1 vocabulary in StudioLevel1_Explorer_Game_Foundations_Instruction_Manual.md.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course pathway in plain language.</a:t>
            </a:r>
          </a:p>
          <a:p>
            <a:r>
              <a:t>Source context: Core Teaching Principle and Year Goal in Academic_Year_Course_Outline_Find_It_Fix_It.md.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make placement feel fixed. Emphasize starting point, not ranking.</a:t>
            </a:r>
          </a:p>
          <a:p>
            <a:r>
              <a:t>Source context: Studio Level Fit table in Academic_Year_Course_Outline_Find_It_Fix_It.md.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Let students answer in pairs first if the room is quiet.</a:t>
            </a:r>
          </a:p>
          <a:p>
            <a:r>
              <a:t>Source context: Orientation And Placement Meeting outputs in Wednesday_Studio_Session_Types.md.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27778" r="277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F2C014-FE8A-4BEA-BE42-51F39A387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6000"/>
            </a:srgbClr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C491BB-8025-451F-A224-B80C5D50045A}"/>
              </a:ext>
            </a:extLst>
          </p:cNvPr>
          <p:cNvSpPr>
            <a:spLocks noGrp="1"/>
          </p:cNvSpPr>
          <p:nvPr/>
        </p:nvSpPr>
        <p:spPr>
          <a:xfrm>
            <a:off x="704850" y="3733800"/>
            <a:ext cx="91440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Game Animation &amp; Development Studio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1093E6-932C-402D-96CC-A7D1875F124F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DE68A"/>
                </a:solidFill>
                <a:latin typeface="Aptos"/>
                <a:ea typeface="Aptos"/>
                <a:cs typeface="Aptos"/>
              </a:rPr>
              <a:t>First meet and greet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D3379D-C5E2-4DC9-8CF8-8FC8C113F57D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7810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Today is for names, interests, expectations, and the big idea behind the studio.</a:t>
            </a:r>
          </a:p>
        </p:txBody>
      </p:sp>
    </p:spTree>
    <p:extLst>
      <p:ext uri="{BB962C8B-B14F-4D97-AF65-F5344CB8AC3E}">
        <p14:creationId xmlns:p14="http://schemas.microsoft.com/office/powerpoint/2010/main" val="477665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1C11BBC-E78B-41C0-9238-60A5E05685D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Meeting Agenda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FA19F1-DFF2-4037-AC31-69FE2BAD195C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D968E9-E074-4700-B82A-DE1C40F51DB0}"/>
              </a:ext>
            </a:extLst>
          </p:cNvPr>
          <p:cNvSpPr>
            <a:spLocks noGrp="1"/>
          </p:cNvSpPr>
          <p:nvPr/>
        </p:nvSpPr>
        <p:spPr>
          <a:xfrm>
            <a:off x="1619250" y="1714500"/>
            <a:ext cx="28575" cy="4572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A0DCCD-F8F6-4F34-9DE0-597FCE05021C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Welcome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8798B2-E42E-4001-9A59-B08DB89A9684}"/>
              </a:ext>
            </a:extLst>
          </p:cNvPr>
          <p:cNvSpPr>
            <a:spLocks noGrp="1"/>
          </p:cNvSpPr>
          <p:nvPr/>
        </p:nvSpPr>
        <p:spPr>
          <a:xfrm>
            <a:off x="4762500" y="176212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studio is for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8E1143-1FA2-45F1-9AD6-F2F8DCF7D19F}"/>
              </a:ext>
            </a:extLst>
          </p:cNvPr>
          <p:cNvSpPr>
            <a:spLocks noGrp="1"/>
          </p:cNvSpPr>
          <p:nvPr/>
        </p:nvSpPr>
        <p:spPr>
          <a:xfrm>
            <a:off x="933450" y="2495550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878233-42E6-42A1-AB43-5356940F8D8C}"/>
              </a:ext>
            </a:extLst>
          </p:cNvPr>
          <p:cNvSpPr>
            <a:spLocks noGrp="1"/>
          </p:cNvSpPr>
          <p:nvPr/>
        </p:nvSpPr>
        <p:spPr>
          <a:xfrm>
            <a:off x="1619250" y="2457450"/>
            <a:ext cx="28575" cy="4572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F6388A-A07E-410A-AF63-F6E9C42E1D2A}"/>
              </a:ext>
            </a:extLst>
          </p:cNvPr>
          <p:cNvSpPr>
            <a:spLocks noGrp="1"/>
          </p:cNvSpPr>
          <p:nvPr/>
        </p:nvSpPr>
        <p:spPr>
          <a:xfrm>
            <a:off x="1885950" y="24765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Introductions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CA91DF-43B8-44C3-8077-2F89D52493C2}"/>
              </a:ext>
            </a:extLst>
          </p:cNvPr>
          <p:cNvSpPr>
            <a:spLocks noGrp="1"/>
          </p:cNvSpPr>
          <p:nvPr/>
        </p:nvSpPr>
        <p:spPr>
          <a:xfrm>
            <a:off x="4762500" y="25050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Names, interests, and experience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42758-854C-4120-B4A9-E6C130894DB6}"/>
              </a:ext>
            </a:extLst>
          </p:cNvPr>
          <p:cNvSpPr>
            <a:spLocks noGrp="1"/>
          </p:cNvSpPr>
          <p:nvPr/>
        </p:nvSpPr>
        <p:spPr>
          <a:xfrm>
            <a:off x="933450" y="3238500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46645A-6539-4E3C-9D49-57F60E7EA5E7}"/>
              </a:ext>
            </a:extLst>
          </p:cNvPr>
          <p:cNvSpPr>
            <a:spLocks noGrp="1"/>
          </p:cNvSpPr>
          <p:nvPr/>
        </p:nvSpPr>
        <p:spPr>
          <a:xfrm>
            <a:off x="1619250" y="3200400"/>
            <a:ext cx="28575" cy="4572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6976B8-70F4-400D-83ED-297D5222BE10}"/>
              </a:ext>
            </a:extLst>
          </p:cNvPr>
          <p:cNvSpPr>
            <a:spLocks noGrp="1"/>
          </p:cNvSpPr>
          <p:nvPr/>
        </p:nvSpPr>
        <p:spPr>
          <a:xfrm>
            <a:off x="1885950" y="32194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Studio culture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8FB1C4-92D6-4832-A18B-22BE316324C3}"/>
              </a:ext>
            </a:extLst>
          </p:cNvPr>
          <p:cNvSpPr>
            <a:spLocks noGrp="1"/>
          </p:cNvSpPr>
          <p:nvPr/>
        </p:nvSpPr>
        <p:spPr>
          <a:xfrm>
            <a:off x="4762500" y="324802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we build and give feedback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037E87-52F1-4E01-A1F3-194A2888527B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CC57A4-5EFD-4887-ADB5-DA27315C8C4E}"/>
              </a:ext>
            </a:extLst>
          </p:cNvPr>
          <p:cNvSpPr>
            <a:spLocks noGrp="1"/>
          </p:cNvSpPr>
          <p:nvPr/>
        </p:nvSpPr>
        <p:spPr>
          <a:xfrm>
            <a:off x="1619250" y="3943350"/>
            <a:ext cx="28575" cy="4572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1CE1FC-D75E-4C2C-BE0A-098FDF5D5DA4}"/>
              </a:ext>
            </a:extLst>
          </p:cNvPr>
          <p:cNvSpPr>
            <a:spLocks noGrp="1"/>
          </p:cNvSpPr>
          <p:nvPr/>
        </p:nvSpPr>
        <p:spPr>
          <a:xfrm>
            <a:off x="1885950" y="39624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B5D1C5-1ED3-4961-BAE5-90C396304E92}"/>
              </a:ext>
            </a:extLst>
          </p:cNvPr>
          <p:cNvSpPr>
            <a:spLocks noGrp="1"/>
          </p:cNvSpPr>
          <p:nvPr/>
        </p:nvSpPr>
        <p:spPr>
          <a:xfrm>
            <a:off x="4762500" y="39909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Games, animation, users, and testing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C1250-D838-4FB1-AF35-2433F87F088A}"/>
              </a:ext>
            </a:extLst>
          </p:cNvPr>
          <p:cNvSpPr>
            <a:spLocks noGrp="1"/>
          </p:cNvSpPr>
          <p:nvPr/>
        </p:nvSpPr>
        <p:spPr>
          <a:xfrm>
            <a:off x="933450" y="4724400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1224C4-74AD-4D4E-AD2C-89DFCC57CD33}"/>
              </a:ext>
            </a:extLst>
          </p:cNvPr>
          <p:cNvSpPr>
            <a:spLocks noGrp="1"/>
          </p:cNvSpPr>
          <p:nvPr/>
        </p:nvSpPr>
        <p:spPr>
          <a:xfrm>
            <a:off x="1619250" y="4686300"/>
            <a:ext cx="28575" cy="4572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245D9E-05E1-492C-9BEE-6036E5522A44}"/>
              </a:ext>
            </a:extLst>
          </p:cNvPr>
          <p:cNvSpPr>
            <a:spLocks noGrp="1"/>
          </p:cNvSpPr>
          <p:nvPr/>
        </p:nvSpPr>
        <p:spPr>
          <a:xfrm>
            <a:off x="1885950" y="47053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Starting pathway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431579-854E-4D1F-8F12-938740D4CF38}"/>
              </a:ext>
            </a:extLst>
          </p:cNvPr>
          <p:cNvSpPr>
            <a:spLocks noGrp="1"/>
          </p:cNvSpPr>
          <p:nvPr/>
        </p:nvSpPr>
        <p:spPr>
          <a:xfrm>
            <a:off x="4762500" y="473392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Where each student begins next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0A46F26-56DA-4B9D-BB9C-982247C16472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B910C4-5655-43ED-9444-966D1E9C1970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7EC4A8-41E2-428D-A189-A1EF5B418AF8}"/>
              </a:ext>
            </a:extLst>
          </p:cNvPr>
          <p:cNvSpPr>
            <a:spLocks noGrp="1"/>
          </p:cNvSpPr>
          <p:nvPr/>
        </p:nvSpPr>
        <p:spPr>
          <a:xfrm>
            <a:off x="952500" y="5657850"/>
            <a:ext cx="9810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would make this studio worth showing up for each week?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210C9C-4FB4-46C3-B16A-31CC7C44F206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2</a:t>
            </a:r>
          </a:p>
        </p:txBody>
      </p:sp>
    </p:spTree>
    <p:extLst>
      <p:ext uri="{BB962C8B-B14F-4D97-AF65-F5344CB8AC3E}">
        <p14:creationId xmlns:p14="http://schemas.microsoft.com/office/powerpoint/2010/main" val="1422617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F9F87EC-1DF0-4557-B7E2-D4A1E2D7B8E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Studio Exists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C0A918-1D7D-4773-9580-BC66C0C49F37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lang="en-TT" sz="165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Self expression through game creation and user feedback</a:t>
            </a:r>
            <a:endParaRPr sz="1650" b="0" dirty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C7D956-CA0F-4123-9D30-42BDEF21FEBC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61912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Students will learn by making visible progress, testing early, and explaining how each change affects the audience.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BCEF1-6404-46F6-80F7-2992FAC8C8CC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game idea becomes clearer when someone else tries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444612-5393-4DB8-9BFE-2E230732447E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An animation becomes stronger when motion, timing, and feeling connect.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92972E-AC0B-40F3-8231-1A927F6A44D6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small improvement can teach more than a large unfinished plan.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l="37500" r="37500"/>
          <a:stretch>
            <a:fillRect/>
          </a:stretch>
        </p:blipFill>
        <p:spPr>
          <a:xfrm>
            <a:off x="7715250" y="1504950"/>
            <a:ext cx="3429000" cy="3429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E0C603-B9A3-48E3-AD67-B7DFE38400C7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B9CB7-3C42-456C-AEE8-F1E0254D0709}"/>
              </a:ext>
            </a:extLst>
          </p:cNvPr>
          <p:cNvSpPr>
            <a:spLocks noGrp="1"/>
          </p:cNvSpPr>
          <p:nvPr/>
        </p:nvSpPr>
        <p:spPr>
          <a:xfrm>
            <a:off x="952500" y="5772150"/>
            <a:ext cx="9810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Think of a game, animation, or app you like. What does it make the audience do or feel?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D80B1-4333-4AD6-9FFB-EE3B1782C51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3</a:t>
            </a:r>
          </a:p>
        </p:txBody>
      </p:sp>
    </p:spTree>
    <p:extLst>
      <p:ext uri="{BB962C8B-B14F-4D97-AF65-F5344CB8AC3E}">
        <p14:creationId xmlns:p14="http://schemas.microsoft.com/office/powerpoint/2010/main" val="821840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86D260A-D7E1-4361-8179-92757DD3BE0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Studio Culture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63D19A-C0EA-4279-BE98-3C812C7D6EDF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Good creative work needs trust, iteration, and clear feedback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9824C0-651E-4800-913C-BFF8E2135ACE}"/>
              </a:ext>
            </a:extLst>
          </p:cNvPr>
          <p:cNvSpPr>
            <a:spLocks noGrp="1"/>
          </p:cNvSpPr>
          <p:nvPr/>
        </p:nvSpPr>
        <p:spPr>
          <a:xfrm>
            <a:off x="857250" y="16764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Test early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A00199-A474-4770-8778-3D608BFEB698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Show rough work before it feels finished.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286B4F-89BC-4BF0-ADB2-2355D582DCCD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Save often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859ECC-AC0F-406B-B5DB-2ABD5D04C3FE}"/>
              </a:ext>
            </a:extLst>
          </p:cNvPr>
          <p:cNvSpPr>
            <a:spLocks noGrp="1"/>
          </p:cNvSpPr>
          <p:nvPr/>
        </p:nvSpPr>
        <p:spPr>
          <a:xfrm>
            <a:off x="6191250" y="203835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Protect progress before risky changes.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90D6D1-9C32-4D17-BAD3-C7EAB276BF38}"/>
              </a:ext>
            </a:extLst>
          </p:cNvPr>
          <p:cNvSpPr>
            <a:spLocks noGrp="1"/>
          </p:cNvSpPr>
          <p:nvPr/>
        </p:nvSpPr>
        <p:spPr>
          <a:xfrm>
            <a:off x="857250" y="280035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Describe problems clearly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5D7F63-CA37-444D-AEED-8D9F6DDF3BA8}"/>
              </a:ext>
            </a:extLst>
          </p:cNvPr>
          <p:cNvSpPr>
            <a:spLocks noGrp="1"/>
          </p:cNvSpPr>
          <p:nvPr/>
        </p:nvSpPr>
        <p:spPr>
          <a:xfrm>
            <a:off x="857250" y="316230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Name what happened and where it happened.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49009E-C3F1-4EE2-8403-D33006BD1E31}"/>
              </a:ext>
            </a:extLst>
          </p:cNvPr>
          <p:cNvSpPr>
            <a:spLocks noGrp="1"/>
          </p:cNvSpPr>
          <p:nvPr/>
        </p:nvSpPr>
        <p:spPr>
          <a:xfrm>
            <a:off x="6191250" y="280035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Focus feedback on the 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09151D-227A-44CE-9983-146A2E2E5411}"/>
              </a:ext>
            </a:extLst>
          </p:cNvPr>
          <p:cNvSpPr>
            <a:spLocks noGrp="1"/>
          </p:cNvSpPr>
          <p:nvPr/>
        </p:nvSpPr>
        <p:spPr>
          <a:xfrm>
            <a:off x="6191250" y="316230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Critique the design, experience, or communication.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C4658D-EFD0-4DAE-BBB4-15BF154BAE06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Credit assets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8C76C4-E6A9-49A0-B7EF-14E6AB5724BC}"/>
              </a:ext>
            </a:extLst>
          </p:cNvPr>
          <p:cNvSpPr>
            <a:spLocks noGrp="1"/>
          </p:cNvSpPr>
          <p:nvPr/>
        </p:nvSpPr>
        <p:spPr>
          <a:xfrm>
            <a:off x="857250" y="428625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Respect the people whose work helps your project.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9C3344-DD21-43FB-84DC-13E9B0AEC223}"/>
              </a:ext>
            </a:extLst>
          </p:cNvPr>
          <p:cNvSpPr>
            <a:spLocks noGrp="1"/>
          </p:cNvSpPr>
          <p:nvPr/>
        </p:nvSpPr>
        <p:spPr>
          <a:xfrm>
            <a:off x="6191250" y="3924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Improve one small thing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7EDFB5-818A-4E50-A8C2-6DFCED1CCDB5}"/>
              </a:ext>
            </a:extLst>
          </p:cNvPr>
          <p:cNvSpPr>
            <a:spLocks noGrp="1"/>
          </p:cNvSpPr>
          <p:nvPr/>
        </p:nvSpPr>
        <p:spPr>
          <a:xfrm>
            <a:off x="6191250" y="428625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Choose a change you can test this week.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C67849-CAE2-4668-B388-609EBF0A92CF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F6B73F-EA81-45C4-B7E4-A506C383DE26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D5C7C8-5E10-4BA5-8588-7C39B55959A4}"/>
              </a:ext>
            </a:extLst>
          </p:cNvPr>
          <p:cNvSpPr>
            <a:spLocks noGrp="1"/>
          </p:cNvSpPr>
          <p:nvPr/>
        </p:nvSpPr>
        <p:spPr>
          <a:xfrm>
            <a:off x="952500" y="5657850"/>
            <a:ext cx="9810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Which norm will help us most when the work gets difficult?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0F4411-F770-449D-959A-DA7A717434E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4</a:t>
            </a:r>
          </a:p>
        </p:txBody>
      </p:sp>
    </p:spTree>
    <p:extLst>
      <p:ext uri="{BB962C8B-B14F-4D97-AF65-F5344CB8AC3E}">
        <p14:creationId xmlns:p14="http://schemas.microsoft.com/office/powerpoint/2010/main" val="39054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E50D6F7-CA82-4170-9141-1B469D49708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Idea: Designed Experiences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39F1D5-5386-42B4-8CFB-7FC1829D1BB0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Games and animations are built from choices that shape what people notice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9EB7CB-880D-4C16-BDAE-79149A67DD6D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Player 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108D03-721D-4CAB-8136-4FD33226CB14}"/>
              </a:ext>
            </a:extLst>
          </p:cNvPr>
          <p:cNvSpPr>
            <a:spLocks noGrp="1"/>
          </p:cNvSpPr>
          <p:nvPr/>
        </p:nvSpPr>
        <p:spPr>
          <a:xfrm>
            <a:off x="3295650" y="17526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player does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50AF9-244B-4953-94BE-68F1B4AB39AC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5247C-349D-4098-A8C0-7CF16409226E}"/>
              </a:ext>
            </a:extLst>
          </p:cNvPr>
          <p:cNvSpPr>
            <a:spLocks noGrp="1"/>
          </p:cNvSpPr>
          <p:nvPr/>
        </p:nvSpPr>
        <p:spPr>
          <a:xfrm>
            <a:off x="3295650" y="23812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player tries to achieve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5150C0-BD82-4643-85C6-47D6B27A5202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460611-98E9-4E62-8031-A895B64EBF7D}"/>
              </a:ext>
            </a:extLst>
          </p:cNvPr>
          <p:cNvSpPr>
            <a:spLocks noGrp="1"/>
          </p:cNvSpPr>
          <p:nvPr/>
        </p:nvSpPr>
        <p:spPr>
          <a:xfrm>
            <a:off x="3295650" y="30099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limits or guides the action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7D6F1C-67A7-418E-9BFC-3479D032F27B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44FBCE-12AC-4DFA-9779-5063501F9AA4}"/>
              </a:ext>
            </a:extLst>
          </p:cNvPr>
          <p:cNvSpPr>
            <a:spLocks noGrp="1"/>
          </p:cNvSpPr>
          <p:nvPr/>
        </p:nvSpPr>
        <p:spPr>
          <a:xfrm>
            <a:off x="3295650" y="36385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the work tells the audience what changed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7E6371-D3AB-4BD8-AF00-16D0820183CF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Feeling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E46CA0-BBA7-43E2-B6BB-525D2C77A24E}"/>
              </a:ext>
            </a:extLst>
          </p:cNvPr>
          <p:cNvSpPr>
            <a:spLocks noGrp="1"/>
          </p:cNvSpPr>
          <p:nvPr/>
        </p:nvSpPr>
        <p:spPr>
          <a:xfrm>
            <a:off x="3295650" y="42672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response the design is trying to create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rcRect l="16912" r="16912"/>
          <a:stretch>
            <a:fillRect/>
          </a:stretch>
        </p:blipFill>
        <p:spPr>
          <a:xfrm>
            <a:off x="7810500" y="1676400"/>
            <a:ext cx="3429000" cy="2857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04FA8B-63E1-443C-89AF-D351E56C4F87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D6675-B3C8-479D-95EF-7973F4F1ABE0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F6378F-2545-41AE-BEFE-AC9466488DEB}"/>
              </a:ext>
            </a:extLst>
          </p:cNvPr>
          <p:cNvSpPr>
            <a:spLocks noGrp="1"/>
          </p:cNvSpPr>
          <p:nvPr/>
        </p:nvSpPr>
        <p:spPr>
          <a:xfrm>
            <a:off x="952500" y="5543550"/>
            <a:ext cx="9810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When you play or watch something, what makes you say I understand what to do?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A3B08B-E322-46B9-A768-2C7917527B6C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5</a:t>
            </a:r>
          </a:p>
        </p:txBody>
      </p:sp>
    </p:spTree>
    <p:extLst>
      <p:ext uri="{BB962C8B-B14F-4D97-AF65-F5344CB8AC3E}">
        <p14:creationId xmlns:p14="http://schemas.microsoft.com/office/powerpoint/2010/main" val="210427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3296927-F81C-4244-97B3-4580E22D0736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Idea: Find It, Fix It, Play 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2C54CF-5D63-4500-914F-8DD791F16354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first projects start with small changes to working or partly working examples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B98081-5154-459C-95FA-2E6FFC3A597B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2343150" cy="247650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54B12-5BDC-400D-A862-DD4350670848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8669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084038-FC1E-4846-97C7-D942DDD5E255}"/>
              </a:ext>
            </a:extLst>
          </p:cNvPr>
          <p:cNvSpPr>
            <a:spLocks noGrp="1"/>
          </p:cNvSpPr>
          <p:nvPr/>
        </p:nvSpPr>
        <p:spPr>
          <a:xfrm>
            <a:off x="895350" y="2800350"/>
            <a:ext cx="18859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is unclear, missing, unfair, broken, or weak?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FAD3FF-D2CF-4730-8A5B-73344D582B2E}"/>
              </a:ext>
            </a:extLst>
          </p:cNvPr>
          <p:cNvSpPr>
            <a:spLocks noGrp="1"/>
          </p:cNvSpPr>
          <p:nvPr/>
        </p:nvSpPr>
        <p:spPr>
          <a:xfrm>
            <a:off x="3524250" y="1885950"/>
            <a:ext cx="2343150" cy="247650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95F59-ACF1-461A-90C7-9F406B5BF15B}"/>
              </a:ext>
            </a:extLst>
          </p:cNvPr>
          <p:cNvSpPr>
            <a:spLocks noGrp="1"/>
          </p:cNvSpPr>
          <p:nvPr/>
        </p:nvSpPr>
        <p:spPr>
          <a:xfrm>
            <a:off x="3714750" y="2133600"/>
            <a:ext cx="18669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80F7B7-15F8-45F1-8DE1-20F95C53A769}"/>
              </a:ext>
            </a:extLst>
          </p:cNvPr>
          <p:cNvSpPr>
            <a:spLocks noGrp="1"/>
          </p:cNvSpPr>
          <p:nvPr/>
        </p:nvSpPr>
        <p:spPr>
          <a:xfrm>
            <a:off x="3714750" y="2800350"/>
            <a:ext cx="18859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Change one thing that a player can notice.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9CED6F-CA65-4A93-A553-605062DFA602}"/>
              </a:ext>
            </a:extLst>
          </p:cNvPr>
          <p:cNvSpPr>
            <a:spLocks noGrp="1"/>
          </p:cNvSpPr>
          <p:nvPr/>
        </p:nvSpPr>
        <p:spPr>
          <a:xfrm>
            <a:off x="6343650" y="1885950"/>
            <a:ext cx="2343150" cy="247650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C697C3-608D-4758-8CB1-EDF14EBF3445}"/>
              </a:ext>
            </a:extLst>
          </p:cNvPr>
          <p:cNvSpPr>
            <a:spLocks noGrp="1"/>
          </p:cNvSpPr>
          <p:nvPr/>
        </p:nvSpPr>
        <p:spPr>
          <a:xfrm>
            <a:off x="6534150" y="2133600"/>
            <a:ext cx="18669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649755-F9DA-400B-B5BF-E52C3EE4438E}"/>
              </a:ext>
            </a:extLst>
          </p:cNvPr>
          <p:cNvSpPr>
            <a:spLocks noGrp="1"/>
          </p:cNvSpPr>
          <p:nvPr/>
        </p:nvSpPr>
        <p:spPr>
          <a:xfrm>
            <a:off x="6534150" y="2800350"/>
            <a:ext cx="18859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Let another person try it before you explain it.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31EC94-D98B-4422-ACCB-E6CDBC2A59D0}"/>
              </a:ext>
            </a:extLst>
          </p:cNvPr>
          <p:cNvSpPr>
            <a:spLocks noGrp="1"/>
          </p:cNvSpPr>
          <p:nvPr/>
        </p:nvSpPr>
        <p:spPr>
          <a:xfrm>
            <a:off x="9163050" y="1885950"/>
            <a:ext cx="2343150" cy="247650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A3FDDF-9E1A-4B7D-BE0B-EBB10C25949C}"/>
              </a:ext>
            </a:extLst>
          </p:cNvPr>
          <p:cNvSpPr>
            <a:spLocks noGrp="1"/>
          </p:cNvSpPr>
          <p:nvPr/>
        </p:nvSpPr>
        <p:spPr>
          <a:xfrm>
            <a:off x="9353550" y="2133600"/>
            <a:ext cx="18669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4A4A0D-868D-4E87-958F-40588AC668A0}"/>
              </a:ext>
            </a:extLst>
          </p:cNvPr>
          <p:cNvSpPr>
            <a:spLocks noGrp="1"/>
          </p:cNvSpPr>
          <p:nvPr/>
        </p:nvSpPr>
        <p:spPr>
          <a:xfrm>
            <a:off x="9353550" y="2800350"/>
            <a:ext cx="18859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Describe how the player experience changed.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48B525-0ED6-4C50-A31C-C0BF3BF3497F}"/>
              </a:ext>
            </a:extLst>
          </p:cNvPr>
          <p:cNvSpPr>
            <a:spLocks noGrp="1"/>
          </p:cNvSpPr>
          <p:nvPr/>
        </p:nvSpPr>
        <p:spPr>
          <a:xfrm>
            <a:off x="952500" y="46101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First task mindset: one small improvement, tested with a real person.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A6BB8D3-219D-4F6A-9102-A67319EACC53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8288BF-0E5C-45B3-A3FE-0880E63D9770}"/>
              </a:ext>
            </a:extLst>
          </p:cNvPr>
          <p:cNvSpPr>
            <a:spLocks noGrp="1"/>
          </p:cNvSpPr>
          <p:nvPr/>
        </p:nvSpPr>
        <p:spPr>
          <a:xfrm>
            <a:off x="952500" y="529590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810A17-449F-4A68-A057-9D07AFBBA3E7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9810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kind of problem do you notice first in games: controls, fairness, story, visuals, sound, or instructions?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2AFF-E4AB-49CD-8582-DF91A3D19694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6</a:t>
            </a:r>
          </a:p>
        </p:txBody>
      </p:sp>
    </p:spTree>
    <p:extLst>
      <p:ext uri="{BB962C8B-B14F-4D97-AF65-F5344CB8AC3E}">
        <p14:creationId xmlns:p14="http://schemas.microsoft.com/office/powerpoint/2010/main" val="259599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2622545-72FF-44DD-943C-7731016D38C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Starting Pathways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387BB6-896B-4A85-927E-3577A384D78C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370184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Students can begin at different levels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1B19E3-6DC4-430A-AB20-29B7F2556925}"/>
              </a:ext>
            </a:extLst>
          </p:cNvPr>
          <p:cNvSpPr>
            <a:spLocks noGrp="1"/>
          </p:cNvSpPr>
          <p:nvPr/>
        </p:nvSpPr>
        <p:spPr>
          <a:xfrm>
            <a:off x="1123950" y="16573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1DEAC5-89AC-4A17-9676-A4F05C367C48}"/>
              </a:ext>
            </a:extLst>
          </p:cNvPr>
          <p:cNvSpPr>
            <a:spLocks noGrp="1"/>
          </p:cNvSpPr>
          <p:nvPr/>
        </p:nvSpPr>
        <p:spPr>
          <a:xfrm>
            <a:off x="3105150" y="1704975"/>
            <a:ext cx="47625" cy="2857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8B167B-868B-4A78-8FB5-C581BC3629F2}"/>
              </a:ext>
            </a:extLst>
          </p:cNvPr>
          <p:cNvSpPr>
            <a:spLocks noGrp="1"/>
          </p:cNvSpPr>
          <p:nvPr/>
        </p:nvSpPr>
        <p:spPr>
          <a:xfrm>
            <a:off x="3429000" y="1666875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Modify and explain a simple 2D game prototype.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C3EEE6-EE23-437A-AECC-457FB57C6B49}"/>
              </a:ext>
            </a:extLst>
          </p:cNvPr>
          <p:cNvSpPr>
            <a:spLocks noGrp="1"/>
          </p:cNvSpPr>
          <p:nvPr/>
        </p:nvSpPr>
        <p:spPr>
          <a:xfrm>
            <a:off x="1123950" y="2371725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Builder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8846C2-53AF-47EF-9A6F-580A595171A0}"/>
              </a:ext>
            </a:extLst>
          </p:cNvPr>
          <p:cNvSpPr>
            <a:spLocks noGrp="1"/>
          </p:cNvSpPr>
          <p:nvPr/>
        </p:nvSpPr>
        <p:spPr>
          <a:xfrm>
            <a:off x="3105150" y="2419350"/>
            <a:ext cx="47625" cy="2857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472BE2-F412-4B3D-8424-EA8DE8CC42FA}"/>
              </a:ext>
            </a:extLst>
          </p:cNvPr>
          <p:cNvSpPr>
            <a:spLocks noGrp="1"/>
          </p:cNvSpPr>
          <p:nvPr/>
        </p:nvSpPr>
        <p:spPr>
          <a:xfrm>
            <a:off x="3429000" y="2381250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Repair, tune, and extend an arcade-style game.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1C131C-1EA5-4596-AFBA-055A55ADC576}"/>
              </a:ext>
            </a:extLst>
          </p:cNvPr>
          <p:cNvSpPr>
            <a:spLocks noGrp="1"/>
          </p:cNvSpPr>
          <p:nvPr/>
        </p:nvSpPr>
        <p:spPr>
          <a:xfrm>
            <a:off x="1123950" y="30861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Designer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8BB683-B534-49A8-B343-FF35420CF06E}"/>
              </a:ext>
            </a:extLst>
          </p:cNvPr>
          <p:cNvSpPr>
            <a:spLocks noGrp="1"/>
          </p:cNvSpPr>
          <p:nvPr/>
        </p:nvSpPr>
        <p:spPr>
          <a:xfrm>
            <a:off x="3105150" y="3133725"/>
            <a:ext cx="47625" cy="2857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37B60F-BEA6-476C-9AA9-66B7D7B434D8}"/>
              </a:ext>
            </a:extLst>
          </p:cNvPr>
          <p:cNvSpPr>
            <a:spLocks noGrp="1"/>
          </p:cNvSpPr>
          <p:nvPr/>
        </p:nvSpPr>
        <p:spPr>
          <a:xfrm>
            <a:off x="3429000" y="3095625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Improve story, UI, feedback, systems, and user experience.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71A904-DD64-47B2-83FE-9949EEC08F6E}"/>
              </a:ext>
            </a:extLst>
          </p:cNvPr>
          <p:cNvSpPr>
            <a:spLocks noGrp="1"/>
          </p:cNvSpPr>
          <p:nvPr/>
        </p:nvSpPr>
        <p:spPr>
          <a:xfrm>
            <a:off x="1123950" y="3800475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Developer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E08AD0-146C-496B-91DB-D37DCC0853DC}"/>
              </a:ext>
            </a:extLst>
          </p:cNvPr>
          <p:cNvSpPr>
            <a:spLocks noGrp="1"/>
          </p:cNvSpPr>
          <p:nvPr/>
        </p:nvSpPr>
        <p:spPr>
          <a:xfrm>
            <a:off x="3105150" y="3848100"/>
            <a:ext cx="47625" cy="2857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70A78E-F465-463B-98D6-E78D09B88187}"/>
              </a:ext>
            </a:extLst>
          </p:cNvPr>
          <p:cNvSpPr>
            <a:spLocks noGrp="1"/>
          </p:cNvSpPr>
          <p:nvPr/>
        </p:nvSpPr>
        <p:spPr>
          <a:xfrm>
            <a:off x="3429000" y="3810000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Contribute to a team project with a defined production role.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B43FF6-4466-41FE-A1B8-0B8F80F73CEB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Director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264761-5042-4673-8637-970160639617}"/>
              </a:ext>
            </a:extLst>
          </p:cNvPr>
          <p:cNvSpPr>
            <a:spLocks noGrp="1"/>
          </p:cNvSpPr>
          <p:nvPr/>
        </p:nvSpPr>
        <p:spPr>
          <a:xfrm>
            <a:off x="3105150" y="4562475"/>
            <a:ext cx="47625" cy="2857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26F33-5DE5-4109-A140-88C344C12FCD}"/>
              </a:ext>
            </a:extLst>
          </p:cNvPr>
          <p:cNvSpPr>
            <a:spLocks noGrp="1"/>
          </p:cNvSpPr>
          <p:nvPr/>
        </p:nvSpPr>
        <p:spPr>
          <a:xfrm>
            <a:off x="3429000" y="4524375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Prepare a polished demo, pitch, and documentation.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19E1E9C-6C6A-4C39-A65D-1490E97408A7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A46FE7-ADC8-4392-B99C-B232DFCFC067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74A929-6E29-4FB4-99DB-9468F98E5624}"/>
              </a:ext>
            </a:extLst>
          </p:cNvPr>
          <p:cNvSpPr>
            <a:spLocks noGrp="1"/>
          </p:cNvSpPr>
          <p:nvPr/>
        </p:nvSpPr>
        <p:spPr>
          <a:xfrm>
            <a:off x="952500" y="5657850"/>
            <a:ext cx="9810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Where do you think you are starting, and what would help you move up one level?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610110-88C1-43E2-BEAD-F8B8ED6028EB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7</a:t>
            </a:r>
          </a:p>
        </p:txBody>
      </p:sp>
    </p:spTree>
    <p:extLst>
      <p:ext uri="{BB962C8B-B14F-4D97-AF65-F5344CB8AC3E}">
        <p14:creationId xmlns:p14="http://schemas.microsoft.com/office/powerpoint/2010/main" val="1348308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88D089-DBB3-4E14-A804-8F5FECB2E43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83439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TT" sz="31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Think about this for the next session</a:t>
            </a:r>
            <a:endParaRPr sz="31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9BEF5A-0E53-4C0B-9939-695FB282866A}"/>
              </a:ext>
            </a:extLst>
          </p:cNvPr>
          <p:cNvSpPr>
            <a:spLocks noGrp="1"/>
          </p:cNvSpPr>
          <p:nvPr/>
        </p:nvSpPr>
        <p:spPr>
          <a:xfrm>
            <a:off x="857250" y="1943100"/>
            <a:ext cx="752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games, animations, tools, or stories have shaped your taste?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4B959B-56E6-4F20-9C2C-506A17A307F5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752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have you made before, even if it was small or unfinished?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F8DEB0-55CD-4877-B992-09987FEAAA15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752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do you want to learn first: art, code, story, level design, sound, UI, or production?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B53113-3D04-478C-BF71-F91DBDA6161A}"/>
              </a:ext>
            </a:extLst>
          </p:cNvPr>
          <p:cNvSpPr>
            <a:spLocks noGrp="1"/>
          </p:cNvSpPr>
          <p:nvPr/>
        </p:nvSpPr>
        <p:spPr>
          <a:xfrm>
            <a:off x="857250" y="4286250"/>
            <a:ext cx="7524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access do you have to a laptop, files, and Google Classroom?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3049A9-1879-4ED4-988E-5C9910CB09AE}"/>
              </a:ext>
            </a:extLst>
          </p:cNvPr>
          <p:cNvSpPr>
            <a:spLocks noGrp="1"/>
          </p:cNvSpPr>
          <p:nvPr/>
        </p:nvSpPr>
        <p:spPr>
          <a:xfrm>
            <a:off x="8782050" y="2019300"/>
            <a:ext cx="2286000" cy="2895600"/>
          </a:xfrm>
          <a:prstGeom prst="rect">
            <a:avLst/>
          </a:prstGeom>
          <a:solidFill>
            <a:srgbClr val="FDE68A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B1FF08-6066-4983-9591-E98D72558ACB}"/>
              </a:ext>
            </a:extLst>
          </p:cNvPr>
          <p:cNvSpPr>
            <a:spLocks noGrp="1"/>
          </p:cNvSpPr>
          <p:nvPr/>
        </p:nvSpPr>
        <p:spPr>
          <a:xfrm>
            <a:off x="9029700" y="2286000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756347-9D57-405F-AFD4-ED451600EA4E}"/>
              </a:ext>
            </a:extLst>
          </p:cNvPr>
          <p:cNvSpPr>
            <a:spLocks noGrp="1"/>
          </p:cNvSpPr>
          <p:nvPr/>
        </p:nvSpPr>
        <p:spPr>
          <a:xfrm>
            <a:off x="9029700" y="2819400"/>
            <a:ext cx="17716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Join Google Classroom, complete the interest form, and bring one idea or example to the next session.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B334D5-8EBE-46E2-8AFF-8F1F0942EA4B}"/>
              </a:ext>
            </a:extLst>
          </p:cNvPr>
          <p:cNvSpPr>
            <a:spLocks noGrp="1"/>
          </p:cNvSpPr>
          <p:nvPr/>
        </p:nvSpPr>
        <p:spPr>
          <a:xfrm>
            <a:off x="742950" y="5791200"/>
            <a:ext cx="3810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988772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</Words>
  <Application>Microsoft Office PowerPoint</Application>
  <DocSecurity>0</DocSecurity>
  <PresentationFormat>Widescreen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Richard TEESDALE</cp:lastModifiedBy>
  <cp:revision>1</cp:revision>
  <dcterms:created xsi:type="dcterms:W3CDTF">2026-09-17T18:42:08Z</dcterms:created>
  <dcterms:modified xsi:type="dcterms:W3CDTF">2026-09-17T18:52:59Z</dcterms:modified>
</cp:coreProperties>
</file>