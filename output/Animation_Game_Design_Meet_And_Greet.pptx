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students warmly. Keep the tone conversational.</a:t>
            </a:r>
          </a:p>
          <a:p>
            <a:r>
              <a:t>Source context: D:\0_AnimationAndGameDesign\Curriculum\Wednesday_Studio_Session_Types.md and Academic_Year_Course_Outline_Find_It_Fix_It.md.</a:t>
            </a:r>
          </a:p>
          <a:p>
            <a:r>
              <a:t>Image source: local workspace image game-development-google-classroom-photoreal-1600x400.png.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a timing guide, not a rigid lecture.</a:t>
            </a:r>
          </a:p>
          <a:p>
            <a:r>
              <a:t>Invite short responses early so students know the session expects voices, not silence.</a:t>
            </a:r>
          </a:p>
          <a:p>
            <a:r>
              <a:t>Source context: Orientation And Placement Meeting agenda in Wednesday_Studio_Session_Types.md.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the studio to audience experience. This is the first big idea.</a:t>
            </a:r>
          </a:p>
          <a:p>
            <a:r>
              <a:t>Image source: local workspace image game-development-google-classroom.png.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norms are adapted from the Studio Level 1 manual.</a:t>
            </a:r>
          </a:p>
          <a:p>
            <a:r>
              <a:t>Ask students which one they think the group will need most.</a:t>
            </a:r>
          </a:p>
          <a:p>
            <a:r>
              <a:t>Source context: StudioLevel1_Explorer_Game_Foundations_Instruction_Manual.md.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slide interactive. Ask for examples from students' games, shows, apps, or videos.</a:t>
            </a:r>
          </a:p>
          <a:p>
            <a:r>
              <a:t>Image source: local Godot documentation image editor_intro_workspace_game.webp.</a:t>
            </a:r>
          </a:p>
          <a:p>
            <a:r>
              <a:t>Source context: Lesson 1 vocabulary in StudioLevel1_Explorer_Game_Foundations_Instruction_Manual.md.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course pathway in plain language.</a:t>
            </a:r>
          </a:p>
          <a:p>
            <a:r>
              <a:t>Source context: Core Teaching Principle and Year Goal in Academic_Year_Course_Outline_Find_It_Fix_It.md.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make placement feel fixed. Emphasize starting point, not ranking.</a:t>
            </a:r>
          </a:p>
          <a:p>
            <a:r>
              <a:t>Source context: Studio Level Fit table in Academic_Year_Course_Outline_Find_It_Fix_It.md.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Let students answer in pairs first if the room is quiet.</a:t>
            </a:r>
          </a:p>
          <a:p>
            <a:r>
              <a:t>Source context: Orientation And Placement Meeting outputs in Wednesday_Studio_Session_Types.md.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7778" r="277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BC7BBB5-86E5-4516-8010-D7F495CD56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6000"/>
            </a:srgbClr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5EAE7F-39C5-46AF-9DF0-9816D6023596}"/>
              </a:ext>
            </a:extLst>
          </p:cNvPr>
          <p:cNvSpPr>
            <a:spLocks noGrp="1"/>
          </p:cNvSpPr>
          <p:nvPr/>
        </p:nvSpPr>
        <p:spPr>
          <a:xfrm>
            <a:off x="704850" y="3733800"/>
            <a:ext cx="9144000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Game Animation &amp; Development Studio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A5A5C1-1833-4A9B-BFAE-0FBE4E2C8C1B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DE68A"/>
                </a:solidFill>
                <a:latin typeface="Aptos"/>
                <a:ea typeface="Aptos"/>
                <a:cs typeface="Aptos"/>
              </a:rPr>
              <a:t>First meet and greet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97666-ECC7-4766-B2DB-ABA0FFE212D0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7810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is for names, interests, expectations, and the big idea behind the studio.</a:t>
            </a:r>
          </a:p>
        </p:txBody>
      </p:sp>
    </p:spTree>
    <p:extLst>
      <p:ext uri="{BB962C8B-B14F-4D97-AF65-F5344CB8AC3E}">
        <p14:creationId xmlns:p14="http://schemas.microsoft.com/office/powerpoint/2010/main" val="1255986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D63C23B-110E-4C7C-BF99-5F152521B07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Meeting Agenda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E472B-B2C1-4398-A796-D57A78C07448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lang="en-TT" sz="16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Session</a:t>
            </a:r>
            <a:r>
              <a:rPr lang="en-TT" sz="142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1</a:t>
            </a:r>
            <a:endParaRPr sz="1425" b="0" dirty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104A6-AE2F-4A64-90FB-3B3AA4CFE4F4}"/>
              </a:ext>
            </a:extLst>
          </p:cNvPr>
          <p:cNvSpPr>
            <a:spLocks noGrp="1"/>
          </p:cNvSpPr>
          <p:nvPr/>
        </p:nvSpPr>
        <p:spPr>
          <a:xfrm>
            <a:off x="933450" y="175260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/>
          </a:bodyPr>
          <a:lstStyle/>
          <a:p>
            <a:pPr algn="l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21487-CB4B-4A74-B6A7-EF7A0A716435}"/>
              </a:ext>
            </a:extLst>
          </p:cNvPr>
          <p:cNvSpPr>
            <a:spLocks noGrp="1"/>
          </p:cNvSpPr>
          <p:nvPr/>
        </p:nvSpPr>
        <p:spPr>
          <a:xfrm>
            <a:off x="1619250" y="171450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D4488-4A48-4C38-85AF-F366E14C83A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CBDC6-7612-48F6-A4E1-8118964537ED}"/>
              </a:ext>
            </a:extLst>
          </p:cNvPr>
          <p:cNvSpPr>
            <a:spLocks noGrp="1"/>
          </p:cNvSpPr>
          <p:nvPr/>
        </p:nvSpPr>
        <p:spPr>
          <a:xfrm>
            <a:off x="4762500" y="176212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studio is for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52F096-1B85-4509-9A5A-7AAC8B9E71B1}"/>
              </a:ext>
            </a:extLst>
          </p:cNvPr>
          <p:cNvSpPr>
            <a:spLocks noGrp="1"/>
          </p:cNvSpPr>
          <p:nvPr/>
        </p:nvSpPr>
        <p:spPr>
          <a:xfrm>
            <a:off x="933450" y="249555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/>
          </a:bodyPr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4A2843-D185-47E9-9A94-ABE972C42836}"/>
              </a:ext>
            </a:extLst>
          </p:cNvPr>
          <p:cNvSpPr>
            <a:spLocks noGrp="1"/>
          </p:cNvSpPr>
          <p:nvPr/>
        </p:nvSpPr>
        <p:spPr>
          <a:xfrm>
            <a:off x="1619250" y="245745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A0CB2E-08A4-4978-B602-CD846C1826CD}"/>
              </a:ext>
            </a:extLst>
          </p:cNvPr>
          <p:cNvSpPr>
            <a:spLocks noGrp="1"/>
          </p:cNvSpPr>
          <p:nvPr/>
        </p:nvSpPr>
        <p:spPr>
          <a:xfrm>
            <a:off x="1885950" y="24765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Introductions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E81D5-9E6B-4113-BC71-6BE25ACB76B6}"/>
              </a:ext>
            </a:extLst>
          </p:cNvPr>
          <p:cNvSpPr>
            <a:spLocks noGrp="1"/>
          </p:cNvSpPr>
          <p:nvPr/>
        </p:nvSpPr>
        <p:spPr>
          <a:xfrm>
            <a:off x="4762500" y="25050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 lnSpcReduction="10000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Names, interests, and experience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3B4C04-B8A9-41F2-9626-350F200BF04A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/>
          </a:bodyPr>
          <a:lstStyle/>
          <a:p>
            <a:pPr algn="l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75D0BB-4880-4EB7-8C97-E87E9740873D}"/>
              </a:ext>
            </a:extLst>
          </p:cNvPr>
          <p:cNvSpPr>
            <a:spLocks noGrp="1"/>
          </p:cNvSpPr>
          <p:nvPr/>
        </p:nvSpPr>
        <p:spPr>
          <a:xfrm>
            <a:off x="1619250" y="320040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50DA24-3A62-4C88-84B0-C2DE760C6157}"/>
              </a:ext>
            </a:extLst>
          </p:cNvPr>
          <p:cNvSpPr>
            <a:spLocks noGrp="1"/>
          </p:cNvSpPr>
          <p:nvPr/>
        </p:nvSpPr>
        <p:spPr>
          <a:xfrm>
            <a:off x="1885950" y="32194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818D21-1C45-4C94-B43C-B1330077940D}"/>
              </a:ext>
            </a:extLst>
          </p:cNvPr>
          <p:cNvSpPr>
            <a:spLocks noGrp="1"/>
          </p:cNvSpPr>
          <p:nvPr/>
        </p:nvSpPr>
        <p:spPr>
          <a:xfrm>
            <a:off x="4762500" y="324802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 lnSpcReduction="10000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we build and give feedback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64D55A-6626-4897-B239-98E93DD735CB}"/>
              </a:ext>
            </a:extLst>
          </p:cNvPr>
          <p:cNvSpPr>
            <a:spLocks noGrp="1"/>
          </p:cNvSpPr>
          <p:nvPr/>
        </p:nvSpPr>
        <p:spPr>
          <a:xfrm>
            <a:off x="933450" y="398145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/>
          </a:bodyPr>
          <a:lstStyle/>
          <a:p>
            <a:pPr algn="l"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0B867B-CF7F-4E62-A764-85E9A2F58C17}"/>
              </a:ext>
            </a:extLst>
          </p:cNvPr>
          <p:cNvSpPr>
            <a:spLocks noGrp="1"/>
          </p:cNvSpPr>
          <p:nvPr/>
        </p:nvSpPr>
        <p:spPr>
          <a:xfrm>
            <a:off x="1619250" y="394335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A6DB04-8D0B-4947-A796-1F5362B3D5F9}"/>
              </a:ext>
            </a:extLst>
          </p:cNvPr>
          <p:cNvSpPr>
            <a:spLocks noGrp="1"/>
          </p:cNvSpPr>
          <p:nvPr/>
        </p:nvSpPr>
        <p:spPr>
          <a:xfrm>
            <a:off x="1885950" y="39624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6D384E-16D3-45DA-BED9-36101FAD2437}"/>
              </a:ext>
            </a:extLst>
          </p:cNvPr>
          <p:cNvSpPr>
            <a:spLocks noGrp="1"/>
          </p:cNvSpPr>
          <p:nvPr/>
        </p:nvSpPr>
        <p:spPr>
          <a:xfrm>
            <a:off x="4762500" y="399097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 lnSpcReduction="10000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Games, animation, users, and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E31E33-199C-4D60-82FA-ABCD1085A386}"/>
              </a:ext>
            </a:extLst>
          </p:cNvPr>
          <p:cNvSpPr>
            <a:spLocks noGrp="1"/>
          </p:cNvSpPr>
          <p:nvPr/>
        </p:nvSpPr>
        <p:spPr>
          <a:xfrm>
            <a:off x="933450" y="4724400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000"/>
          </a:bodyPr>
          <a:lstStyle/>
          <a:p>
            <a:pPr algn="l">
              <a:defRPr sz="18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C3ACCB-5FA2-40A1-B6F9-FB20FFC1C71C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28575" cy="45720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567151-A693-4A49-8576-51636AEDDC21}"/>
              </a:ext>
            </a:extLst>
          </p:cNvPr>
          <p:cNvSpPr>
            <a:spLocks noGrp="1"/>
          </p:cNvSpPr>
          <p:nvPr/>
        </p:nvSpPr>
        <p:spPr>
          <a:xfrm>
            <a:off x="1885950" y="47053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833"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59D53F-1882-464A-B878-15B664AB1667}"/>
              </a:ext>
            </a:extLst>
          </p:cNvPr>
          <p:cNvSpPr>
            <a:spLocks noGrp="1"/>
          </p:cNvSpPr>
          <p:nvPr/>
        </p:nvSpPr>
        <p:spPr>
          <a:xfrm>
            <a:off x="4762500" y="473392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 lnSpcReduction="10000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Where each student begins next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91A028A-67BD-4B6C-8244-A8D859334E49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781050"/>
          </a:xfrm>
          <a:prstGeom prst="roundRect">
            <a:avLst>
              <a:gd name="adj" fmla="val 9756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18A5C7-64D5-4C54-90B1-8D7AA21B0001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19A0FE-9337-4193-986F-52AE413E94AE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would make this studio worth showing up for each week?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742C7D-C65B-4478-94BB-65D1591FA69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2</a:t>
            </a:r>
          </a:p>
        </p:txBody>
      </p:sp>
    </p:spTree>
    <p:extLst>
      <p:ext uri="{BB962C8B-B14F-4D97-AF65-F5344CB8AC3E}">
        <p14:creationId xmlns:p14="http://schemas.microsoft.com/office/powerpoint/2010/main" val="130353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7641610-6BA5-45F9-91F2-E89E66881A7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TT" sz="28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How we do things: Progress not perfection</a:t>
            </a:r>
            <a:endParaRPr sz="28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54B00F-0F93-4971-987C-EE82E0D1C574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6191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963"/>
          </a:bodyPr>
          <a:lstStyle/>
          <a:p>
            <a:pPr algn="l"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will learn by making visible progress, testing early, and explaining how each change affects the audience.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A1B28-93E2-41AE-B2CB-B9E8B7F920A6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game idea becomes clearer when someone else tries 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30D597-0914-4323-A87A-DF09202E572D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898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An animation becomes stronger when motion, timing, and feeling connect.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F3DDC0-34AE-46B8-B734-535E1CA5633A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small improvement can teach more than a large unfinished plan.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rcRect l="37500" r="37500"/>
          <a:stretch>
            <a:fillRect/>
          </a:stretch>
        </p:blipFill>
        <p:spPr>
          <a:xfrm>
            <a:off x="7715250" y="1504950"/>
            <a:ext cx="3429000" cy="3429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3BC232-2DEF-417C-904F-925E18D0381E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10820400" cy="781050"/>
          </a:xfrm>
          <a:prstGeom prst="roundRect">
            <a:avLst>
              <a:gd name="adj" fmla="val 9756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0CE494-F896-4327-9B2A-B5D6EC8AAFAA}"/>
              </a:ext>
            </a:extLst>
          </p:cNvPr>
          <p:cNvSpPr>
            <a:spLocks noGrp="1"/>
          </p:cNvSpPr>
          <p:nvPr/>
        </p:nvSpPr>
        <p:spPr>
          <a:xfrm>
            <a:off x="952500" y="55816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CA1F1A-EEB5-4C51-802D-0C7653D7D721}"/>
              </a:ext>
            </a:extLst>
          </p:cNvPr>
          <p:cNvSpPr>
            <a:spLocks noGrp="1"/>
          </p:cNvSpPr>
          <p:nvPr/>
        </p:nvSpPr>
        <p:spPr>
          <a:xfrm>
            <a:off x="952500" y="582930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Think of a game, animation, or app you like. What does it make the audience do or feel?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7AB168-EE8F-40CF-A580-A926A8A2DDC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3</a:t>
            </a:r>
          </a:p>
        </p:txBody>
      </p:sp>
    </p:spTree>
    <p:extLst>
      <p:ext uri="{BB962C8B-B14F-4D97-AF65-F5344CB8AC3E}">
        <p14:creationId xmlns:p14="http://schemas.microsoft.com/office/powerpoint/2010/main" val="63631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016E44A-391A-480C-90DC-484D7CB4904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60E4BB-C9F8-4D34-A210-BDA630532201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Good creative work needs trust, iteration, and clear feedback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9D4E6-35AF-4E03-82F5-A25BF58783EE}"/>
              </a:ext>
            </a:extLst>
          </p:cNvPr>
          <p:cNvSpPr>
            <a:spLocks noGrp="1"/>
          </p:cNvSpPr>
          <p:nvPr/>
        </p:nvSpPr>
        <p:spPr>
          <a:xfrm>
            <a:off x="857250" y="16764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Test early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1225AB-1CEE-4705-8364-F9E47AB09CF4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Show rough work before it feels finished.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7831E6-310A-4933-B17E-041F6C05FD7A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Save often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ABF5BD-96C2-48EB-8406-4CDBE2AD82AD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Protect progress before risky changes.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C366AB-513E-4D6F-87F4-DB508A0A033D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Describe problems clearly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59D01-66DD-42AC-B79B-B22AB0244AD2}"/>
              </a:ext>
            </a:extLst>
          </p:cNvPr>
          <p:cNvSpPr>
            <a:spLocks noGrp="1"/>
          </p:cNvSpPr>
          <p:nvPr/>
        </p:nvSpPr>
        <p:spPr>
          <a:xfrm>
            <a:off x="857250" y="316230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 what happened and where it happened.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4B2EF0-CE7D-4EBC-A3D9-EF555334FCBF}"/>
              </a:ext>
            </a:extLst>
          </p:cNvPr>
          <p:cNvSpPr>
            <a:spLocks noGrp="1"/>
          </p:cNvSpPr>
          <p:nvPr/>
        </p:nvSpPr>
        <p:spPr>
          <a:xfrm>
            <a:off x="6191250" y="280035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Focus feedback on the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59C38A-D412-40C3-9D7C-229BC36E35A6}"/>
              </a:ext>
            </a:extLst>
          </p:cNvPr>
          <p:cNvSpPr>
            <a:spLocks noGrp="1"/>
          </p:cNvSpPr>
          <p:nvPr/>
        </p:nvSpPr>
        <p:spPr>
          <a:xfrm>
            <a:off x="6191250" y="316230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Critique the design, experience, or communication.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67208-56D2-45B3-998D-B648ED9F6B64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Credit assets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68F69D-F2E6-4CF9-970C-607753C2A20B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Respect the people whose work helps your project.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296A1-C8DE-4D95-AB82-EE525BF7B9DD}"/>
              </a:ext>
            </a:extLst>
          </p:cNvPr>
          <p:cNvSpPr>
            <a:spLocks noGrp="1"/>
          </p:cNvSpPr>
          <p:nvPr/>
        </p:nvSpPr>
        <p:spPr>
          <a:xfrm>
            <a:off x="6191250" y="3924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778"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Improve one small thing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D366A1-8193-44DD-A5FC-A256D0D4B32B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Choose a change you can test this week.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F38040-548F-4694-A70C-C68119205BB5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781050"/>
          </a:xfrm>
          <a:prstGeom prst="roundRect">
            <a:avLst>
              <a:gd name="adj" fmla="val 9756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EF51B-C768-494B-93E0-495F38C6B37A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E33ED-E6CD-4BBD-92BD-CB96CA0B050D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Which norm will help us most when the work gets difficult?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763E4C-E022-4F5D-B3DF-E27DA6365A7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4</a:t>
            </a:r>
          </a:p>
        </p:txBody>
      </p:sp>
    </p:spTree>
    <p:extLst>
      <p:ext uri="{BB962C8B-B14F-4D97-AF65-F5344CB8AC3E}">
        <p14:creationId xmlns:p14="http://schemas.microsoft.com/office/powerpoint/2010/main" val="198639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638C66-66C4-4628-8D13-99C540F4BA9F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Designed Experiences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3A8C91-4661-42D2-AE52-BE3A83CE57BE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 and animations are built from choices that shape what people notice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328691-7D89-4A25-9DE1-25F4E255044D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913"/>
          </a:bodyPr>
          <a:lstStyle/>
          <a:p>
            <a:pPr algn="l">
              <a:defRPr sz="17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Player 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3C65A1-F0D1-4161-871C-5F02F24E4C8D}"/>
              </a:ext>
            </a:extLst>
          </p:cNvPr>
          <p:cNvSpPr>
            <a:spLocks noGrp="1"/>
          </p:cNvSpPr>
          <p:nvPr/>
        </p:nvSpPr>
        <p:spPr>
          <a:xfrm>
            <a:off x="3295650" y="17526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does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ED47E-A413-4750-A990-B4FE9201D441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913"/>
          </a:bodyPr>
          <a:lstStyle/>
          <a:p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3CE608-4DD4-4A75-9AC0-59D8035F4B9B}"/>
              </a:ext>
            </a:extLst>
          </p:cNvPr>
          <p:cNvSpPr>
            <a:spLocks noGrp="1"/>
          </p:cNvSpPr>
          <p:nvPr/>
        </p:nvSpPr>
        <p:spPr>
          <a:xfrm>
            <a:off x="3295650" y="23812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tries to achieve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7E166-6E75-4089-ADE6-56C6367DE460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913"/>
          </a:bodyPr>
          <a:lstStyle/>
          <a:p>
            <a:pPr algn="l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6366DC-32FE-47FA-84D2-3CCE70E6BF2C}"/>
              </a:ext>
            </a:extLst>
          </p:cNvPr>
          <p:cNvSpPr>
            <a:spLocks noGrp="1"/>
          </p:cNvSpPr>
          <p:nvPr/>
        </p:nvSpPr>
        <p:spPr>
          <a:xfrm>
            <a:off x="3295650" y="30099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limits or guides the action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E7BD4-F77F-4006-B710-D7448FE0DFFF}"/>
              </a:ext>
            </a:extLst>
          </p:cNvPr>
          <p:cNvSpPr>
            <a:spLocks noGrp="1"/>
          </p:cNvSpPr>
          <p:nvPr/>
        </p:nvSpPr>
        <p:spPr>
          <a:xfrm>
            <a:off x="876300" y="36195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913"/>
          </a:bodyPr>
          <a:lstStyle/>
          <a:p>
            <a:pPr algn="l">
              <a:defRPr sz="172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1652E0-BE23-4B7F-8B7D-6878A870B7CD}"/>
              </a:ext>
            </a:extLst>
          </p:cNvPr>
          <p:cNvSpPr>
            <a:spLocks noGrp="1"/>
          </p:cNvSpPr>
          <p:nvPr/>
        </p:nvSpPr>
        <p:spPr>
          <a:xfrm>
            <a:off x="3295650" y="36385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the work tells the audience what changed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2F875F-52B8-4396-AC45-1EDBEABA37D5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913"/>
          </a:bodyPr>
          <a:lstStyle/>
          <a:p>
            <a:pPr algn="l">
              <a:defRPr sz="172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Feeling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EEB790-BECE-4B93-A324-E3D01DAEC15D}"/>
              </a:ext>
            </a:extLst>
          </p:cNvPr>
          <p:cNvSpPr>
            <a:spLocks noGrp="1"/>
          </p:cNvSpPr>
          <p:nvPr/>
        </p:nvSpPr>
        <p:spPr>
          <a:xfrm>
            <a:off x="3295650" y="42672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response the design is trying to create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rcRect l="16912" r="16912"/>
          <a:stretch>
            <a:fillRect/>
          </a:stretch>
        </p:blipFill>
        <p:spPr>
          <a:xfrm>
            <a:off x="7810500" y="1676400"/>
            <a:ext cx="3429000" cy="2857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69B498-F5AA-4CE0-B46E-372C3FA76B30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781050"/>
          </a:xfrm>
          <a:prstGeom prst="roundRect">
            <a:avLst>
              <a:gd name="adj" fmla="val 9756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95F4D5-E4AA-4611-9171-086540F67EC6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C07AF9-19CB-4A1D-ABEF-F60EDD568674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you play or watch something, what makes you say I understand what to do?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A8531A-E74B-4A36-B983-DEC5F72C774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5</a:t>
            </a:r>
          </a:p>
        </p:txBody>
      </p:sp>
    </p:spTree>
    <p:extLst>
      <p:ext uri="{BB962C8B-B14F-4D97-AF65-F5344CB8AC3E}">
        <p14:creationId xmlns:p14="http://schemas.microsoft.com/office/powerpoint/2010/main" val="397161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EFEFA96-3CA6-4969-878C-42FF2EA04B0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Find It, Fix It, Play 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EFC5E5-8DD8-461B-B281-8A273491165B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first projects start with small changes to working or partly working examples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BDA285-7EE0-4133-84A0-740646340D76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2076450" cy="23812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A170A0-3AB7-4CC4-884D-7217C28D479E}"/>
              </a:ext>
            </a:extLst>
          </p:cNvPr>
          <p:cNvSpPr>
            <a:spLocks noGrp="1"/>
          </p:cNvSpPr>
          <p:nvPr/>
        </p:nvSpPr>
        <p:spPr>
          <a:xfrm>
            <a:off x="1085850" y="21717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444"/>
          </a:bodyPr>
          <a:lstStyle/>
          <a:p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44FD4-4B34-4DB7-B70D-957518AF65AC}"/>
              </a:ext>
            </a:extLst>
          </p:cNvPr>
          <p:cNvSpPr>
            <a:spLocks noGrp="1"/>
          </p:cNvSpPr>
          <p:nvPr/>
        </p:nvSpPr>
        <p:spPr>
          <a:xfrm>
            <a:off x="1085850" y="2819400"/>
            <a:ext cx="1619250" cy="1270819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is unclear, missing, unfair, broken, or weak?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0C3934-7E0B-4227-B30A-71BC95A6DB3B}"/>
              </a:ext>
            </a:extLst>
          </p:cNvPr>
          <p:cNvSpPr>
            <a:spLocks noGrp="1"/>
          </p:cNvSpPr>
          <p:nvPr/>
        </p:nvSpPr>
        <p:spPr>
          <a:xfrm>
            <a:off x="3619500" y="1943100"/>
            <a:ext cx="2076450" cy="23812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ADA09-9434-4884-BE9D-CCCB0A422AA2}"/>
              </a:ext>
            </a:extLst>
          </p:cNvPr>
          <p:cNvSpPr>
            <a:spLocks noGrp="1"/>
          </p:cNvSpPr>
          <p:nvPr/>
        </p:nvSpPr>
        <p:spPr>
          <a:xfrm>
            <a:off x="3829050" y="21717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444"/>
          </a:bodyPr>
          <a:lstStyle/>
          <a:p>
            <a:pPr algn="l"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59886-ADA7-4D6F-80B8-3FD4639D76EA}"/>
              </a:ext>
            </a:extLst>
          </p:cNvPr>
          <p:cNvSpPr>
            <a:spLocks noGrp="1"/>
          </p:cNvSpPr>
          <p:nvPr/>
        </p:nvSpPr>
        <p:spPr>
          <a:xfrm>
            <a:off x="3829050" y="2819400"/>
            <a:ext cx="16192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Change one </a:t>
            </a:r>
            <a:r>
              <a:rPr sz="16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thing</a:t>
            </a:r>
            <a:r>
              <a:rPr sz="1575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 that a player can notice.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3ADA7E-A926-4336-922F-6F496A0FFCB8}"/>
              </a:ext>
            </a:extLst>
          </p:cNvPr>
          <p:cNvSpPr>
            <a:spLocks noGrp="1"/>
          </p:cNvSpPr>
          <p:nvPr/>
        </p:nvSpPr>
        <p:spPr>
          <a:xfrm>
            <a:off x="6362700" y="1943100"/>
            <a:ext cx="2076450" cy="23812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5C24A-8234-413B-84EB-959B7731B1E0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444"/>
          </a:bodyPr>
          <a:lstStyle/>
          <a:p>
            <a:pPr algn="l">
              <a:defRPr sz="22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16F716-CDDF-44CA-991B-D163CCC9637C}"/>
              </a:ext>
            </a:extLst>
          </p:cNvPr>
          <p:cNvSpPr>
            <a:spLocks noGrp="1"/>
          </p:cNvSpPr>
          <p:nvPr/>
        </p:nvSpPr>
        <p:spPr>
          <a:xfrm>
            <a:off x="6572250" y="2819399"/>
            <a:ext cx="1619250" cy="1093839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845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Let another person try it before you explain it.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6AB6BC-25B4-4284-AFB5-BBCA83BEC4C6}"/>
              </a:ext>
            </a:extLst>
          </p:cNvPr>
          <p:cNvSpPr>
            <a:spLocks noGrp="1"/>
          </p:cNvSpPr>
          <p:nvPr/>
        </p:nvSpPr>
        <p:spPr>
          <a:xfrm>
            <a:off x="9105900" y="1943100"/>
            <a:ext cx="2076450" cy="238125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83706A-5752-4F69-A9E0-749123F33458}"/>
              </a:ext>
            </a:extLst>
          </p:cNvPr>
          <p:cNvSpPr>
            <a:spLocks noGrp="1"/>
          </p:cNvSpPr>
          <p:nvPr/>
        </p:nvSpPr>
        <p:spPr>
          <a:xfrm>
            <a:off x="9315450" y="21717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444"/>
          </a:bodyPr>
          <a:lstStyle/>
          <a:p>
            <a:pPr algn="l">
              <a:defRPr sz="2250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B5EB07-1275-4F58-BD7B-08D9FE6339E1}"/>
              </a:ext>
            </a:extLst>
          </p:cNvPr>
          <p:cNvSpPr>
            <a:spLocks noGrp="1"/>
          </p:cNvSpPr>
          <p:nvPr/>
        </p:nvSpPr>
        <p:spPr>
          <a:xfrm>
            <a:off x="9315450" y="2819400"/>
            <a:ext cx="1619250" cy="971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688"/>
          </a:bodyPr>
          <a:lstStyle/>
          <a:p>
            <a:pPr algn="l">
              <a:defRPr sz="15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Describe how the player experience changed.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14B0F1-285E-4B6E-8CAA-A5D40D1FDF63}"/>
              </a:ext>
            </a:extLst>
          </p:cNvPr>
          <p:cNvSpPr>
            <a:spLocks noGrp="1"/>
          </p:cNvSpPr>
          <p:nvPr/>
        </p:nvSpPr>
        <p:spPr>
          <a:xfrm>
            <a:off x="952500" y="4648200"/>
            <a:ext cx="9525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ctr">
              <a:defRPr sz="19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First task mindset: one small improvement, tested with a real person.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2B2E3B-BD49-4F53-9C36-93AF9C6308C1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781050"/>
          </a:xfrm>
          <a:prstGeom prst="roundRect">
            <a:avLst>
              <a:gd name="adj" fmla="val 9756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E99923-3E08-4B1E-AE9C-E31B44FC01EE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2E0F07-4568-4795-BDBB-FEBA29984379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kind of problem do you notice first in games: controls, fairness, story, visuals, sound, or instructions?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255ED6-7CBA-4CFB-AE77-34F68B658E2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6</a:t>
            </a:r>
          </a:p>
        </p:txBody>
      </p:sp>
    </p:spTree>
    <p:extLst>
      <p:ext uri="{BB962C8B-B14F-4D97-AF65-F5344CB8AC3E}">
        <p14:creationId xmlns:p14="http://schemas.microsoft.com/office/powerpoint/2010/main" val="2046895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F32502-A50B-4A74-A52C-30C37895AD0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7239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E5FC0-56F2-4D37-BE47-CD631456F420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Students can begin at different levels and still share the same studio rhythm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5CDF1C-1256-4A22-BE61-41799BDD0607}"/>
              </a:ext>
            </a:extLst>
          </p:cNvPr>
          <p:cNvSpPr>
            <a:spLocks noGrp="1"/>
          </p:cNvSpPr>
          <p:nvPr/>
        </p:nvSpPr>
        <p:spPr>
          <a:xfrm>
            <a:off x="1123950" y="16573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Explorer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06BFF0-FB16-471F-9F93-60BCA9ED8F52}"/>
              </a:ext>
            </a:extLst>
          </p:cNvPr>
          <p:cNvSpPr>
            <a:spLocks noGrp="1"/>
          </p:cNvSpPr>
          <p:nvPr/>
        </p:nvSpPr>
        <p:spPr>
          <a:xfrm>
            <a:off x="3105150" y="1704975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51BFD1-CA27-44F3-9100-4FB03BC8590A}"/>
              </a:ext>
            </a:extLst>
          </p:cNvPr>
          <p:cNvSpPr>
            <a:spLocks noGrp="1"/>
          </p:cNvSpPr>
          <p:nvPr/>
        </p:nvSpPr>
        <p:spPr>
          <a:xfrm>
            <a:off x="3429000" y="1666875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Modify and explain a simple 2D game prototype.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AE687B-7EF8-47FE-8307-511B03026958}"/>
              </a:ext>
            </a:extLst>
          </p:cNvPr>
          <p:cNvSpPr>
            <a:spLocks noGrp="1"/>
          </p:cNvSpPr>
          <p:nvPr/>
        </p:nvSpPr>
        <p:spPr>
          <a:xfrm>
            <a:off x="1123950" y="2371725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16195A-832A-41C6-BF95-68BBEB0CF143}"/>
              </a:ext>
            </a:extLst>
          </p:cNvPr>
          <p:cNvSpPr>
            <a:spLocks noGrp="1"/>
          </p:cNvSpPr>
          <p:nvPr/>
        </p:nvSpPr>
        <p:spPr>
          <a:xfrm>
            <a:off x="3105150" y="2419350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CFC388-4DB9-4238-91CD-CCC4B23DE6F8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Repair, tune, and extend an arcade-style game.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1FC60-7DD6-49BB-A2A2-5B5FB8BE5BE6}"/>
              </a:ext>
            </a:extLst>
          </p:cNvPr>
          <p:cNvSpPr>
            <a:spLocks noGrp="1"/>
          </p:cNvSpPr>
          <p:nvPr/>
        </p:nvSpPr>
        <p:spPr>
          <a:xfrm>
            <a:off x="1123950" y="30861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Designer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7B3BF-D5FA-46CE-9E2B-978269D0081C}"/>
              </a:ext>
            </a:extLst>
          </p:cNvPr>
          <p:cNvSpPr>
            <a:spLocks noGrp="1"/>
          </p:cNvSpPr>
          <p:nvPr/>
        </p:nvSpPr>
        <p:spPr>
          <a:xfrm>
            <a:off x="3105150" y="3133725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4BC97E-5880-4FE3-975F-170298AA52F4}"/>
              </a:ext>
            </a:extLst>
          </p:cNvPr>
          <p:cNvSpPr>
            <a:spLocks noGrp="1"/>
          </p:cNvSpPr>
          <p:nvPr/>
        </p:nvSpPr>
        <p:spPr>
          <a:xfrm>
            <a:off x="3429000" y="3095625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Improve story, UI, feedback, systems, and user experience.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777204-B55C-49E5-9F0D-6F43F358D9F4}"/>
              </a:ext>
            </a:extLst>
          </p:cNvPr>
          <p:cNvSpPr>
            <a:spLocks noGrp="1"/>
          </p:cNvSpPr>
          <p:nvPr/>
        </p:nvSpPr>
        <p:spPr>
          <a:xfrm>
            <a:off x="1123950" y="3800475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98183E-B777-4875-840D-F2B992CB53AF}"/>
              </a:ext>
            </a:extLst>
          </p:cNvPr>
          <p:cNvSpPr>
            <a:spLocks noGrp="1"/>
          </p:cNvSpPr>
          <p:nvPr/>
        </p:nvSpPr>
        <p:spPr>
          <a:xfrm>
            <a:off x="3105150" y="3848100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78B398-C450-4299-8361-889532825968}"/>
              </a:ext>
            </a:extLst>
          </p:cNvPr>
          <p:cNvSpPr>
            <a:spLocks noGrp="1"/>
          </p:cNvSpPr>
          <p:nvPr/>
        </p:nvSpPr>
        <p:spPr>
          <a:xfrm>
            <a:off x="3429000" y="3810000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Contribute to a team project with a defined production role.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811AC5-0AAC-4ED4-9A94-332053FAA511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333"/>
          </a:bodyPr>
          <a:lstStyle/>
          <a:p>
            <a:pPr algn="l">
              <a:defRPr sz="1875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Director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A9049C-E9E6-4964-B379-D33297330B80}"/>
              </a:ext>
            </a:extLst>
          </p:cNvPr>
          <p:cNvSpPr>
            <a:spLocks noGrp="1"/>
          </p:cNvSpPr>
          <p:nvPr/>
        </p:nvSpPr>
        <p:spPr>
          <a:xfrm>
            <a:off x="3105150" y="4562475"/>
            <a:ext cx="47625" cy="2857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4FA967-4BDE-4133-95DA-31B5B3757FED}"/>
              </a:ext>
            </a:extLst>
          </p:cNvPr>
          <p:cNvSpPr>
            <a:spLocks noGrp="1"/>
          </p:cNvSpPr>
          <p:nvPr/>
        </p:nvSpPr>
        <p:spPr>
          <a:xfrm>
            <a:off x="3429000" y="4524375"/>
            <a:ext cx="6858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652"/>
          </a:bodyPr>
          <a:lstStyle/>
          <a:p>
            <a:pPr algn="l">
              <a:defRPr sz="172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Prepare a polished demo, pitch, and documentation.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C7A9B9C-8485-4E08-BBAF-07F4D58A363A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820400" cy="781050"/>
          </a:xfrm>
          <a:prstGeom prst="roundRect">
            <a:avLst>
              <a:gd name="adj" fmla="val 9756"/>
            </a:avLst>
          </a:prstGeom>
          <a:solidFill>
            <a:srgbClr val="E7F3F1"/>
          </a:solidFill>
          <a:ln w="9525">
            <a:solidFill>
              <a:srgbClr val="A7D8D2"/>
            </a:solidFill>
            <a:prstDash val="solid"/>
          </a:ln>
        </p:spPr>
        <p:txBody>
          <a:bodyPr/>
          <a:lstStyle/>
          <a:p>
            <a:endParaRPr lang="en-TT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C32673-2F10-4063-A83E-9404E0334E54}"/>
              </a:ext>
            </a:extLst>
          </p:cNvPr>
          <p:cNvSpPr>
            <a:spLocks noGrp="1"/>
          </p:cNvSpPr>
          <p:nvPr/>
        </p:nvSpPr>
        <p:spPr>
          <a:xfrm>
            <a:off x="952500" y="53530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67F301-25DE-4C7B-8208-BD8D8B928CA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25"/>
          </a:bodyPr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do you think you are starting, and what would help you move up one level?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FF09B9-8FE4-44AB-9EAC-ED1B14640BF7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7</a:t>
            </a:r>
          </a:p>
        </p:txBody>
      </p:sp>
    </p:spTree>
    <p:extLst>
      <p:ext uri="{BB962C8B-B14F-4D97-AF65-F5344CB8AC3E}">
        <p14:creationId xmlns:p14="http://schemas.microsoft.com/office/powerpoint/2010/main" val="1766434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190E8C-1AA1-46D0-B779-29F735ADA2B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64770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TT" sz="31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Let’s Chat</a:t>
            </a:r>
            <a:endParaRPr sz="31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835578-640D-40B4-A65B-AEC9DDAF57E7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games, animations, tools, or stories have shaped your taste?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749DD-E949-4511-BF68-40057604361C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have you made before, even if it was small or unfinished?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308EE-BA85-43CD-9C12-CA39F8C79394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235"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 you want to learn first: art, code, story, level design, sound, UI, or production?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3E1EA3-B2B5-4CA6-9628-9946595AADC0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access do you have to a laptop, files, and Google Classroom?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14CE02-452A-473A-AD68-49129D7A38A2}"/>
              </a:ext>
            </a:extLst>
          </p:cNvPr>
          <p:cNvSpPr>
            <a:spLocks noGrp="1"/>
          </p:cNvSpPr>
          <p:nvPr/>
        </p:nvSpPr>
        <p:spPr>
          <a:xfrm>
            <a:off x="8763000" y="1981200"/>
            <a:ext cx="2095500" cy="2705100"/>
          </a:xfrm>
          <a:prstGeom prst="rect">
            <a:avLst/>
          </a:prstGeom>
          <a:solidFill>
            <a:srgbClr val="FDE68A"/>
          </a:solidFill>
          <a:ln w="0">
            <a:noFill/>
          </a:ln>
        </p:spPr>
        <p:txBody>
          <a:bodyPr/>
          <a:lstStyle/>
          <a:p>
            <a:endParaRPr lang="en-T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91C0C0-A8E7-4FD7-9691-3E9D8DB9E099}"/>
              </a:ext>
            </a:extLst>
          </p:cNvPr>
          <p:cNvSpPr>
            <a:spLocks noGrp="1"/>
          </p:cNvSpPr>
          <p:nvPr/>
        </p:nvSpPr>
        <p:spPr>
          <a:xfrm>
            <a:off x="8991600" y="22479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22"/>
          </a:bodyPr>
          <a:lstStyle/>
          <a:p>
            <a:pPr algn="l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98117-842F-4A5A-9CC3-5EA8C9A0FF8D}"/>
              </a:ext>
            </a:extLst>
          </p:cNvPr>
          <p:cNvSpPr>
            <a:spLocks noGrp="1"/>
          </p:cNvSpPr>
          <p:nvPr/>
        </p:nvSpPr>
        <p:spPr>
          <a:xfrm>
            <a:off x="8991600" y="2781300"/>
            <a:ext cx="1600200" cy="1409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469"/>
          </a:bodyPr>
          <a:lstStyle/>
          <a:p>
            <a:pPr algn="l"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Join Google Classroom, complete the interest form, and bring one idea or example to the next session.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6ED7AA-2AF7-4D65-8B50-53BE8C7946C4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810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85642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Office PowerPoint</Application>
  <DocSecurity>0</DocSecurity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Richard TEESDALE</cp:lastModifiedBy>
  <cp:revision>2</cp:revision>
  <dcterms:created xsi:type="dcterms:W3CDTF">2026-09-16T13:30:17Z</dcterms:created>
  <dcterms:modified xsi:type="dcterms:W3CDTF">2026-09-16T13:35:27Z</dcterms:modified>
</cp:coreProperties>
</file>